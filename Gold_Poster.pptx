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21388388"/>
  <p:notesSz cx="21388388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42251A68-7CA4-5CE3-9ACF-D033A3BB4927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40" d="100"/>
          <a:sy n="40" d="100"/>
        </p:scale>
        <p:origin x="942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700" b="0" i="0" u="none" strike="noStrike">
                <a:solidFill>
                  <a:srgbClr val="262626"/>
                </a:solidFill>
                <a:latin typeface="+mn-lt"/>
              </a:defRPr>
            </a:pPr>
            <a:r>
              <a:rPr lang="en-US" sz="1700" b="0" i="0" u="none" strike="noStrike">
                <a:solidFill>
                  <a:srgbClr val="262626"/>
                </a:solidFill>
                <a:latin typeface="+mn-lt"/>
              </a:rPr>
              <a:t>One-day forecast error (MAE, USD) by K-Means condition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ARIMA(1,1,2)</c:v>
                </c:pt>
              </c:strCache>
            </c:strRef>
          </c:tx>
          <c:spPr>
            <a:solidFill>
              <a:srgbClr val="A67C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Calm, falling (71 days)</c:v>
                </c:pt>
                <c:pt idx="1">
                  <c:v>Calm, rising (29 days)</c:v>
                </c:pt>
                <c:pt idx="2">
                  <c:v>Volatile (26 days)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39.49</c:v>
                </c:pt>
                <c:pt idx="1">
                  <c:v>53.07</c:v>
                </c:pt>
                <c:pt idx="2">
                  <c:v>59.89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60-4445-A799-C07E2A1317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Naïve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Calm, falling (71 days)</c:v>
                </c:pt>
                <c:pt idx="1">
                  <c:v>Calm, rising (29 days)</c:v>
                </c:pt>
                <c:pt idx="2">
                  <c:v>Volatile (26 days)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39.71</c:v>
                </c:pt>
                <c:pt idx="1">
                  <c:v>53.06</c:v>
                </c:pt>
                <c:pt idx="2">
                  <c:v>59.47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60-4445-A799-C07E2A1317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E6E3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5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7270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33832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457200"/>
            <a:ext cx="22402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457200"/>
            <a:ext cx="2240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Futures: Market Conditions and Price Forecasting</a:t>
            </a:r>
            <a:endParaRPr lang="en-US" sz="5000" dirty="0"/>
          </a:p>
        </p:txBody>
      </p:sp>
      <p:sp>
        <p:nvSpPr>
          <p:cNvPr id="3" name="Research question"/>
          <p:cNvSpPr txBox="1"/>
          <p:nvPr/>
        </p:nvSpPr>
        <p:spPr>
          <a:xfrm>
            <a:off x="731520" y="1828800"/>
            <a:ext cx="2240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i="1" dirty="0">
                <a:solidFill>
                  <a:schemeClr val="accent4"/>
                </a:solidFill>
              </a:rPr>
              <a:t>Can daily gold futures trading days be grouped into market conditions, and can ARIMA forecast the gold price better than a naïve forecast?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2194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chemeClr val="accent6"/>
                </a:solidFill>
              </a:rPr>
              <a:t>Machine Learning for Business · HDip in Science in Data Analytics for Business · CCT College Dublin</a:t>
            </a:r>
            <a:endParaRPr lang="en-US" sz="1900" dirty="0"/>
          </a:p>
        </p:txBody>
      </p:sp>
      <p:sp>
        <p:nvSpPr>
          <p:cNvPr id="5" name="Author"/>
          <p:cNvSpPr txBox="1"/>
          <p:nvPr/>
        </p:nvSpPr>
        <p:spPr>
          <a:xfrm>
            <a:off x="23143464" y="4572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chemeClr val="bg1"/>
                </a:solidFill>
              </a:rPr>
              <a:t>[Student name]</a:t>
            </a:r>
            <a:endParaRPr lang="en-US" sz="2600" dirty="0"/>
          </a:p>
          <a:p>
            <a:pPr marL="0" indent="0" algn="r">
              <a:buNone/>
            </a:pPr>
            <a:r>
              <a:rPr lang="en-US" sz="2600" dirty="0">
                <a:solidFill>
                  <a:schemeClr val="bg1"/>
                </a:solidFill>
              </a:rPr>
              <a:t>[Student number]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1314664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chemeClr val="accent6"/>
                </a:solidFill>
              </a:rPr>
              <a:t>Data: Yahoo Finance, GC=F · 21 Oct 2016 – 20 Oct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Heading 1"/>
          <p:cNvSpPr txBox="1"/>
          <p:nvPr/>
        </p:nvSpPr>
        <p:spPr>
          <a:xfrm>
            <a:off x="1463040" y="3840480"/>
            <a:ext cx="61287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663440"/>
            <a:ext cx="686028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Gold is one of the most followed financial assets. In the last ten years the gold futures price rose from about </a:t>
            </a:r>
            <a:r>
              <a:rPr lang="en-US" sz="1900" b="1" dirty="0">
                <a:solidFill>
                  <a:schemeClr val="tx1"/>
                </a:solidFill>
              </a:rPr>
              <a:t>1,128 to 5,318 USD</a:t>
            </a:r>
            <a:r>
              <a:rPr lang="en-US" sz="1900" dirty="0">
                <a:solidFill>
                  <a:schemeClr val="tx1"/>
                </a:solidFill>
              </a:rPr>
              <a:t>, with calm and very turbulent periods. For a business, knowing </a:t>
            </a:r>
            <a:r>
              <a:rPr lang="en-US" sz="1900" b="1" dirty="0">
                <a:solidFill>
                  <a:schemeClr val="tx1"/>
                </a:solidFill>
              </a:rPr>
              <a:t>when the market is calm or nervous</a:t>
            </a:r>
            <a:r>
              <a:rPr lang="en-US" sz="1900" dirty="0">
                <a:solidFill>
                  <a:schemeClr val="tx1"/>
                </a:solidFill>
              </a:rPr>
              <a:t> and whether </a:t>
            </a:r>
            <a:r>
              <a:rPr lang="en-US" sz="1900" b="1" dirty="0">
                <a:solidFill>
                  <a:schemeClr val="tx1"/>
                </a:solidFill>
              </a:rPr>
              <a:t>past prices can forecast future prices</a:t>
            </a:r>
            <a:r>
              <a:rPr lang="en-US" sz="1900" dirty="0">
                <a:solidFill>
                  <a:schemeClr val="tx1"/>
                </a:solidFill>
              </a:rPr>
              <a:t> helps with planning and risk management.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" y="7132320"/>
            <a:ext cx="6860286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7315200"/>
            <a:ext cx="631164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3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8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Clean and explore 10 years of daily gold data</a:t>
            </a:r>
            <a:endParaRPr lang="en-US" sz="18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Find market conditions with K-Means and Agglomerative clustering</a:t>
            </a:r>
            <a:endParaRPr lang="en-US" sz="18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Compare them with silhouette and Davies–Bouldin</a:t>
            </a:r>
            <a:endParaRPr lang="en-US" sz="1800" dirty="0"/>
          </a:p>
          <a:p>
            <a:pPr marL="279400" indent="-2794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Test ARIMA against a naïve forecast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10287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10287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Heading 2"/>
          <p:cNvSpPr txBox="1"/>
          <p:nvPr/>
        </p:nvSpPr>
        <p:spPr>
          <a:xfrm>
            <a:off x="1463040" y="10241280"/>
            <a:ext cx="61287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preparation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54607" y="11381602"/>
            <a:ext cx="686028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Source: </a:t>
            </a:r>
            <a:r>
              <a:rPr lang="en-US" sz="1800" dirty="0">
                <a:solidFill>
                  <a:schemeClr val="tx1"/>
                </a:solidFill>
              </a:rPr>
              <a:t>Yahoo Finance, GC=F: COMEX gold futures in USD (not the shop price of gold), via yfinance.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Period: </a:t>
            </a:r>
            <a:r>
              <a:rPr lang="en-US" sz="1800" dirty="0">
                <a:solidFill>
                  <a:schemeClr val="tx1"/>
                </a:solidFill>
              </a:rPr>
              <a:t>last ten years, 21 Oct 2016 – 20 Oct 2026.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Data issue: </a:t>
            </a:r>
            <a:r>
              <a:rPr lang="en-US" sz="1800" dirty="0">
                <a:solidFill>
                  <a:schemeClr val="tx1"/>
                </a:solidFill>
              </a:rPr>
              <a:t>Volume, High and Low were recorded differently before 2020, so clustering uses only log return, 20-day volatility and 20-day return.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Heavy tails: </a:t>
            </a:r>
            <a:r>
              <a:rPr lang="en-US" sz="1800" dirty="0">
                <a:solidFill>
                  <a:schemeClr val="tx1"/>
                </a:solidFill>
              </a:rPr>
              <a:t>biggest fall −11.4% on 30 Jan 2026.</a:t>
            </a:r>
            <a:endParaRPr lang="en-US" sz="1800" dirty="0"/>
          </a:p>
        </p:txBody>
      </p:sp>
      <p:pic>
        <p:nvPicPr>
          <p:cNvPr id="26" name="Image 0" descr="Close price and 20-day volatility: calm until 2019, spikes in 2020 and 20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33" y="13863635"/>
            <a:ext cx="6860286" cy="396448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31520" y="19600727"/>
            <a:ext cx="6860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Close price and 20-day volatility: calm until 2019, spikes in 2020 and 2026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049006" y="3886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49006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30" name="Heading 3"/>
          <p:cNvSpPr txBox="1"/>
          <p:nvPr/>
        </p:nvSpPr>
        <p:spPr>
          <a:xfrm>
            <a:off x="8780526" y="3840480"/>
            <a:ext cx="61287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trading days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8049006" y="4663440"/>
            <a:ext cx="686028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Scaling: </a:t>
            </a:r>
            <a:r>
              <a:rPr lang="en-US" sz="1800" dirty="0">
                <a:solidFill>
                  <a:schemeClr val="tx1"/>
                </a:solidFill>
              </a:rPr>
              <a:t>StandardScaler, because both methods use Euclidean distance.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 = 3: </a:t>
            </a:r>
            <a:r>
              <a:rPr lang="en-US" sz="1800" dirty="0">
                <a:solidFill>
                  <a:schemeClr val="tx1"/>
                </a:solidFill>
              </a:rPr>
              <a:t>elbow, silhouette, Davies–Bouldin and the dendrogram's largest gap.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Ward linkage: </a:t>
            </a:r>
            <a:r>
              <a:rPr lang="en-US" sz="1800" dirty="0">
                <a:solidFill>
                  <a:schemeClr val="tx1"/>
                </a:solidFill>
              </a:rPr>
              <a:t>single and average linkage scored silhouette 0.69 only by isolating 1 day.</a:t>
            </a:r>
            <a:endParaRPr lang="en-US" sz="1800" dirty="0"/>
          </a:p>
        </p:txBody>
      </p:sp>
      <p:pic>
        <p:nvPicPr>
          <p:cNvPr id="32" name="Image 1" descr="K-Means: calm rising, calm falling/sideways, volati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006" y="6858000"/>
            <a:ext cx="5669280" cy="4394416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8049006" y="11298136"/>
            <a:ext cx="6860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K-Means: calm rising, calm falling/sideways, volatile</a:t>
            </a:r>
            <a:endParaRPr lang="en-US" sz="15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9006" y="11801056"/>
          <a:ext cx="6858000" cy="21945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k = 3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K-Means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Ward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Silhouette ↑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</a:rPr>
                        <a:t>0.270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0.246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Davies–Bouldin ↓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</a:rPr>
                        <a:t>1.250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1.278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Smallest cluster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183 days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99 days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Same condition in both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89.5% of days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 30"/>
          <p:cNvSpPr txBox="1"/>
          <p:nvPr/>
        </p:nvSpPr>
        <p:spPr>
          <a:xfrm>
            <a:off x="8049006" y="14224216"/>
            <a:ext cx="68602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Preferred: K-Means. </a:t>
            </a:r>
            <a:r>
              <a:rPr lang="en-US" sz="1800" dirty="0">
                <a:solidFill>
                  <a:schemeClr val="tx1"/>
                </a:solidFill>
              </a:rPr>
              <a:t>Better on both metrics and stable across random starts. Silhouette &lt; 0.3: conditions are not clearly separated.</a:t>
            </a:r>
            <a:endParaRPr lang="en-US" sz="1800" dirty="0"/>
          </a:p>
        </p:txBody>
      </p:sp>
      <p:pic>
        <p:nvPicPr>
          <p:cNvPr id="36" name="Image 2" descr="Volatile days only in 2020 (20%), 2025 (20%) and 2026 (41%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006" y="15550096"/>
            <a:ext cx="6860286" cy="3051271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8049006" y="18647088"/>
            <a:ext cx="6860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Volatile days only in 2020 (20%), 2025 (20%) and 2026 (41%)</a:t>
            </a:r>
            <a:endParaRPr lang="en-US" sz="1500" dirty="0"/>
          </a:p>
        </p:txBody>
      </p:sp>
      <p:sp>
        <p:nvSpPr>
          <p:cNvPr id="38" name="Shape 32"/>
          <p:cNvSpPr/>
          <p:nvPr/>
        </p:nvSpPr>
        <p:spPr>
          <a:xfrm>
            <a:off x="15366492" y="3886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15366492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40" name="Heading 4"/>
          <p:cNvSpPr txBox="1"/>
          <p:nvPr/>
        </p:nvSpPr>
        <p:spPr>
          <a:xfrm>
            <a:off x="16098012" y="3840480"/>
            <a:ext cx="61287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 &amp; ARIMA</a:t>
            </a:r>
            <a:endParaRPr lang="en-US" sz="3000" dirty="0"/>
          </a:p>
        </p:txBody>
      </p:sp>
      <p:sp>
        <p:nvSpPr>
          <p:cNvPr id="41" name="Text 35"/>
          <p:cNvSpPr txBox="1"/>
          <p:nvPr/>
        </p:nvSpPr>
        <p:spPr>
          <a:xfrm>
            <a:off x="15366492" y="4663440"/>
            <a:ext cx="686028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Split: </a:t>
            </a:r>
            <a:r>
              <a:rPr lang="en-US" sz="1800" dirty="0">
                <a:solidFill>
                  <a:schemeClr val="tx1"/>
                </a:solidFill>
              </a:rPr>
              <a:t>train to 21 Apr 2026, test = last 126 days (no shuffling).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ADF: </a:t>
            </a:r>
            <a:r>
              <a:rPr lang="en-US" sz="1800" dirty="0">
                <a:solidFill>
                  <a:schemeClr val="tx1"/>
                </a:solidFill>
              </a:rPr>
              <a:t>price p = 1.0 (not stationary); 1st difference p &lt; 0.0001, so d = 1.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ACF/PACF: </a:t>
            </a:r>
            <a:r>
              <a:rPr lang="en-US" sz="1800" dirty="0">
                <a:solidFill>
                  <a:schemeClr val="tx1"/>
                </a:solidFill>
              </a:rPr>
              <a:t>all values very small; no seasonality at 5, 21, 63, 126 or 252 days → ARIMA, not SARIMA.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AIC: </a:t>
            </a:r>
            <a:r>
              <a:rPr lang="en-US" sz="1800" dirty="0">
                <a:solidFill>
                  <a:schemeClr val="tx1"/>
                </a:solidFill>
              </a:rPr>
              <a:t>ARIMA(1, 1, 2) lowest (23,080.98); random walk highest.</a:t>
            </a:r>
            <a:endParaRPr lang="en-US" sz="1800" dirty="0"/>
          </a:p>
        </p:txBody>
      </p:sp>
      <p:pic>
        <p:nvPicPr>
          <p:cNvPr id="42" name="Image 3" descr="ACF and PACF of the daily price changes (training data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66492" y="6858000"/>
            <a:ext cx="6860286" cy="1926214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15366492" y="8829934"/>
            <a:ext cx="6860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ACF and PACF of the daily price changes (training data)</a:t>
            </a:r>
            <a:endParaRPr lang="en-US" sz="1500" dirty="0"/>
          </a:p>
        </p:txBody>
      </p:sp>
      <p:pic>
        <p:nvPicPr>
          <p:cNvPr id="44" name="Image 4" descr="6-month forecast: ARIMA ≈ naïve, a flat lin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66492" y="9332854"/>
            <a:ext cx="6860286" cy="3036299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5366492" y="12414874"/>
            <a:ext cx="68602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6-month forecast: ARIMA ≈ naïve, a flat line</a:t>
            </a:r>
            <a:endParaRPr lang="en-US" sz="1500" dirty="0"/>
          </a:p>
        </p:txBody>
      </p:sp>
      <p:graphicFrame>
        <p:nvGraphicFramePr>
          <p:cNvPr id="4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366492" y="12917794"/>
          <a:ext cx="6858000" cy="175564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Test MAE (USD)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ARIMA(1,1,2)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Naïve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2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6 months ahead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385.16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</a:rPr>
                        <a:t>374.08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One day ahead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62626"/>
                          </a:solidFill>
                        </a:rPr>
                        <a:t>46.82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46.86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Inside 95% interval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64.3% of test days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" name="Text 38"/>
          <p:cNvSpPr txBox="1"/>
          <p:nvPr/>
        </p:nvSpPr>
        <p:spPr>
          <a:xfrm>
            <a:off x="15366492" y="14883754"/>
            <a:ext cx="68602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Residuals: </a:t>
            </a:r>
            <a:r>
              <a:rPr lang="en-US" sz="1800" dirty="0">
                <a:solidFill>
                  <a:schemeClr val="tx1"/>
                </a:solidFill>
              </a:rPr>
              <a:t>no autocorrelation left, but heavy tails and changing variance, so the interval is too narrow.</a:t>
            </a:r>
            <a:endParaRPr lang="en-US" sz="1800" dirty="0"/>
          </a:p>
        </p:txBody>
      </p:sp>
      <p:sp>
        <p:nvSpPr>
          <p:cNvPr id="48" name="Why panel"/>
          <p:cNvSpPr/>
          <p:nvPr/>
        </p:nvSpPr>
        <p:spPr>
          <a:xfrm>
            <a:off x="15366492" y="16255354"/>
            <a:ext cx="6860286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Text 40"/>
          <p:cNvSpPr txBox="1"/>
          <p:nvPr/>
        </p:nvSpPr>
        <p:spPr>
          <a:xfrm>
            <a:off x="15640812" y="16438234"/>
            <a:ext cx="631164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1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ARIMA no better than naïve?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The AR and MA terms almost cancel out (AR1 = −0.59, MA1 = +0.55), and the daily price changes have almost no autocorrelation. Gold behaves like a random walk, so the best forecast is close to the last price.</a:t>
            </a:r>
            <a:endParaRPr lang="en-US" sz="1800" dirty="0"/>
          </a:p>
        </p:txBody>
      </p:sp>
      <p:sp>
        <p:nvSpPr>
          <p:cNvPr id="50" name="Shape 41"/>
          <p:cNvSpPr/>
          <p:nvPr/>
        </p:nvSpPr>
        <p:spPr>
          <a:xfrm>
            <a:off x="22683978" y="3886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1" name="Text 42"/>
          <p:cNvSpPr txBox="1"/>
          <p:nvPr/>
        </p:nvSpPr>
        <p:spPr>
          <a:xfrm>
            <a:off x="22683978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52" name="Heading 5"/>
          <p:cNvSpPr txBox="1"/>
          <p:nvPr/>
        </p:nvSpPr>
        <p:spPr>
          <a:xfrm>
            <a:off x="23415498" y="3840480"/>
            <a:ext cx="61287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forecasting hardest?</a:t>
            </a:r>
            <a:endParaRPr lang="en-US" sz="3000" dirty="0"/>
          </a:p>
        </p:txBody>
      </p:sp>
      <p:graphicFrame>
        <p:nvGraphicFramePr>
          <p:cNvPr id="53" name="Errors by condition"/>
          <p:cNvGraphicFramePr/>
          <p:nvPr/>
        </p:nvGraphicFramePr>
        <p:xfrm>
          <a:off x="22683978" y="4663440"/>
          <a:ext cx="6860286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54" name="Text 44"/>
          <p:cNvSpPr txBox="1"/>
          <p:nvPr/>
        </p:nvSpPr>
        <p:spPr>
          <a:xfrm>
            <a:off x="22683978" y="8961120"/>
            <a:ext cx="68602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About 50% larger errors on volatile days. </a:t>
            </a:r>
            <a:r>
              <a:rPr lang="en-US" sz="1800" dirty="0">
                <a:solidFill>
                  <a:schemeClr val="tx1"/>
                </a:solidFill>
              </a:rPr>
              <a:t>ARIMA ≈ naïve in every condition (descriptive only).</a:t>
            </a:r>
            <a:endParaRPr lang="en-US" sz="1800" dirty="0"/>
          </a:p>
        </p:txBody>
      </p:sp>
      <p:sp>
        <p:nvSpPr>
          <p:cNvPr id="55" name="Shape 45"/>
          <p:cNvSpPr/>
          <p:nvPr/>
        </p:nvSpPr>
        <p:spPr>
          <a:xfrm>
            <a:off x="22683978" y="10104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22683978" y="10104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57" name="Heading 6"/>
          <p:cNvSpPr txBox="1"/>
          <p:nvPr/>
        </p:nvSpPr>
        <p:spPr>
          <a:xfrm>
            <a:off x="23415498" y="10058400"/>
            <a:ext cx="61287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58" name="Text 48"/>
          <p:cNvSpPr txBox="1"/>
          <p:nvPr/>
        </p:nvSpPr>
        <p:spPr>
          <a:xfrm>
            <a:off x="22683978" y="10881360"/>
            <a:ext cx="6860286" cy="694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Three market conditions: </a:t>
            </a:r>
            <a:r>
              <a:rPr lang="en-US" sz="1800" dirty="0">
                <a:solidFill>
                  <a:schemeClr val="tx1"/>
                </a:solidFill>
              </a:rPr>
              <a:t>calm rising (40%), calm falling/sideways (52%) and volatile (7%) days, found by both algorithms.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K-Means preferred </a:t>
            </a:r>
            <a:r>
              <a:rPr lang="en-US" sz="1800" dirty="0">
                <a:solidFill>
                  <a:schemeClr val="tx1"/>
                </a:solidFill>
              </a:rPr>
              <a:t>(silhouette 0.270, Davies–Bouldin 1.250), but the clusters are weakly separated.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Random walk: </a:t>
            </a:r>
            <a:r>
              <a:rPr lang="en-US" sz="1800" dirty="0">
                <a:solidFill>
                  <a:schemeClr val="tx1"/>
                </a:solidFill>
              </a:rPr>
              <a:t>ARIMA(1,1,2) did not beat "tomorrow = today", over 6 months or one day.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Link: </a:t>
            </a:r>
            <a:r>
              <a:rPr lang="en-US" sz="1800" dirty="0">
                <a:solidFill>
                  <a:schemeClr val="tx1"/>
                </a:solidFill>
              </a:rPr>
              <a:t>clusters show when forecasting is hardest; changing volatility breaks ARIMA's assumptions.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Limitations: </a:t>
            </a:r>
            <a:r>
              <a:rPr lang="en-US" sz="1800" dirty="0">
                <a:solidFill>
                  <a:schemeClr val="tx1"/>
                </a:solidFill>
              </a:rPr>
              <a:t>pre-2020 data issue, k = 3 is a judgement, no outside data (rates, US dollar, news). Future work: log price, volatility models.</a:t>
            </a:r>
            <a:endParaRPr lang="en-US" sz="1800" dirty="0"/>
          </a:p>
        </p:txBody>
      </p:sp>
      <p:sp>
        <p:nvSpPr>
          <p:cNvPr id="59" name="References"/>
          <p:cNvSpPr txBox="1"/>
          <p:nvPr/>
        </p:nvSpPr>
        <p:spPr>
          <a:xfrm>
            <a:off x="22683978" y="16824960"/>
            <a:ext cx="686028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2F2A22"/>
                </a:solidFill>
              </a:rPr>
              <a:t>References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6B6B6B"/>
                </a:solidFill>
              </a:rPr>
              <a:t>Iqbal, M. (n.d.) Machine Learning for Business. CCT College Dublin.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6B6B6B"/>
                </a:solidFill>
              </a:rPr>
              <a:t>Yahoo Finance (2026) Gold Dec 26 (GC=F) historical data. Accessed 22 Oct 2026.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ld Poster">
  <a:themeElements>
    <a:clrScheme name="Gold Poster">
      <a:dk1>
        <a:srgbClr val="262626"/>
      </a:dk1>
      <a:lt1>
        <a:srgbClr val="FFFFFF"/>
      </a:lt1>
      <a:dk2>
        <a:srgbClr val="2F2A22"/>
      </a:dk2>
      <a:lt2>
        <a:srgbClr val="F2F1EE"/>
      </a:lt2>
      <a:accent1>
        <a:srgbClr val="A67C00"/>
      </a:accent1>
      <a:accent2>
        <a:srgbClr val="8C2F1E"/>
      </a:accent2>
      <a:accent3>
        <a:srgbClr val="6B6B6B"/>
      </a:accent3>
      <a:accent4>
        <a:srgbClr val="D4AF37"/>
      </a:accent4>
      <a:accent5>
        <a:srgbClr val="4A4A4A"/>
      </a:accent5>
      <a:accent6>
        <a:srgbClr val="CFC6B0"/>
      </a:accent6>
      <a:hlink>
        <a:srgbClr val="A67C00"/>
      </a:hlink>
      <a:folHlink>
        <a:srgbClr val="6B6B6B"/>
      </a:folHlink>
    </a:clrScheme>
    <a:fontScheme name="Gold Pos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806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Cambria</vt:lpstr>
      <vt:lpstr>Gold Poster</vt:lpstr>
      <vt:lpstr>Gold Futures: Market Conditions and Price Forecasting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Futures: Market Conditions and Price Forecasting</dc:title>
  <dc:subject>PptxGenJS Presentation</dc:subject>
  <dc:creator>PptxGenJS</dc:creator>
  <cp:lastModifiedBy>Reda Ghafla</cp:lastModifiedBy>
  <cp:revision>4</cp:revision>
  <dcterms:created xsi:type="dcterms:W3CDTF">2026-10-28T14:24:54Z</dcterms:created>
  <dcterms:modified xsi:type="dcterms:W3CDTF">2026-10-29T23:15:16Z</dcterms:modified>
</cp:coreProperties>
</file>