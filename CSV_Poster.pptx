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6711f711-6631-b920-c76c-5ea8d71201b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D2B2E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D2B2E"/>
                </a:solidFill>
                <a:latin typeface="+mn-lt"/>
              </a:rPr>
              <a:t>One-step MAE (USD) in four 6-month test windows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ARIMA(2,1,2)</c:v>
                </c:pt>
              </c:strCache>
            </c:strRef>
          </c:tx>
          <c:spPr>
            <a:solidFill>
              <a:srgbClr val="1F6F6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Oct 24–Mar 25</c:v>
                  </c:pt>
                  <c:pt idx="1">
                    <c:v>Apr–Sep 25</c:v>
                  </c:pt>
                  <c:pt idx="2">
                    <c:v>Oct 25–Mar 26</c:v>
                  </c:pt>
                  <c:pt idx="3">
                    <c:v>Apr–Sep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0.4325</c:v>
                </c:pt>
                <c:pt idx="1">
                  <c:v>0.5067</c:v>
                </c:pt>
                <c:pt idx="2">
                  <c:v>0.5094</c:v>
                </c:pt>
                <c:pt idx="3">
                  <c:v>0.6838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Oct 24–Mar 25</c:v>
                  </c:pt>
                  <c:pt idx="1">
                    <c:v>Apr–Sep 25</c:v>
                  </c:pt>
                  <c:pt idx="2">
                    <c:v>Oct 25–Mar 26</c:v>
                  </c:pt>
                  <c:pt idx="3">
                    <c:v>Apr–Sep 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0.4342</c:v>
                </c:pt>
                <c:pt idx="1">
                  <c:v>0.5083</c:v>
                </c:pt>
                <c:pt idx="2">
                  <c:v>0.5092</c:v>
                </c:pt>
                <c:pt idx="3">
                  <c:v>0.6791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8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12700" cap="flat">
              <a:solidFill>
                <a:srgbClr val="E2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8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383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457200"/>
            <a:ext cx="22402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457200"/>
            <a:ext cx="2240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Conditions and Price Forecasting for Carriage Services (CSV)</a:t>
            </a:r>
            <a:endParaRPr lang="en-US" sz="5000" dirty="0"/>
          </a:p>
        </p:txBody>
      </p:sp>
      <p:sp>
        <p:nvSpPr>
          <p:cNvPr id="3" name="Research question"/>
          <p:cNvSpPr txBox="1"/>
          <p:nvPr/>
        </p:nvSpPr>
        <p:spPr>
          <a:xfrm>
            <a:off x="731520" y="1874520"/>
            <a:ext cx="2194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bg2"/>
                </a:solidFill>
              </a:rPr>
              <a:t>Can daily trading days be grouped into meaningful market conditions, and can ARIMA forecast the closing price better than a naïve forecast?</a:t>
            </a:r>
            <a:endParaRPr lang="en-US" sz="2600" dirty="0"/>
          </a:p>
        </p:txBody>
      </p:sp>
      <p:sp>
        <p:nvSpPr>
          <p:cNvPr id="4" name="Module"/>
          <p:cNvSpPr txBox="1"/>
          <p:nvPr/>
        </p:nvSpPr>
        <p:spPr>
          <a:xfrm>
            <a:off x="731520" y="2651760"/>
            <a:ext cx="2194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Machine Learning for Business · HDip in Data Analytics for Business · CCT College Dublin</a:t>
            </a:r>
            <a:endParaRPr lang="en-US" sz="2000" dirty="0"/>
          </a:p>
        </p:txBody>
      </p:sp>
      <p:sp>
        <p:nvSpPr>
          <p:cNvPr id="5" name="Author"/>
          <p:cNvSpPr txBox="1"/>
          <p:nvPr/>
        </p:nvSpPr>
        <p:spPr>
          <a:xfrm>
            <a:off x="23143464" y="457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[Student name]</a:t>
            </a:r>
            <a:endParaRPr lang="en-US" sz="2600" dirty="0"/>
          </a:p>
          <a:p>
            <a:pPr algn="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[Student number]</a:t>
            </a:r>
            <a:endParaRPr lang="en-US" sz="2600" dirty="0"/>
          </a:p>
        </p:txBody>
      </p:sp>
      <p:sp>
        <p:nvSpPr>
          <p:cNvPr id="6" name="Data note"/>
          <p:cNvSpPr txBox="1"/>
          <p:nvPr/>
        </p:nvSpPr>
        <p:spPr>
          <a:xfrm>
            <a:off x="21314664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Data: Yahoo Finance, ticker CSV · 3 Jan 2017 – 30 Sep 2026 · downloaded 21 Oct 2026</a:t>
            </a:r>
            <a:endParaRPr lang="en-US" sz="1800" dirty="0"/>
          </a:p>
        </p:txBody>
      </p:sp>
      <p:sp>
        <p:nvSpPr>
          <p:cNvPr id="7" name="Number 1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Heading 1"/>
          <p:cNvSpPr txBox="1"/>
          <p:nvPr/>
        </p:nvSpPr>
        <p:spPr>
          <a:xfrm>
            <a:off x="1463040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63440"/>
            <a:ext cx="686028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Carriage Services (CSV) is a US funeral and cemetery company listed on the NYSE. Its daily trading data is both a set of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multivariate records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(open, high, low, close, volume) and 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 series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We use clustering to find market conditions without labels, and ARIMA to test whether past prices help forecast future prices.</a:t>
            </a:r>
            <a:endParaRPr lang="en-US" sz="2000" dirty="0"/>
          </a:p>
        </p:txBody>
      </p:sp>
      <p:sp>
        <p:nvSpPr>
          <p:cNvPr id="11" name="Objectives panel"/>
          <p:cNvSpPr/>
          <p:nvPr/>
        </p:nvSpPr>
        <p:spPr>
          <a:xfrm>
            <a:off x="731520" y="7132320"/>
            <a:ext cx="686028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7315200"/>
            <a:ext cx="631164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9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Clean and document 10 years of daily data</a:t>
            </a:r>
            <a:endParaRPr lang="en-US" sz="19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Compare K-Means and Agglomerative clustering (silhouette, Davies–Bouldin)</a:t>
            </a:r>
            <a:endParaRPr lang="en-US" sz="19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Select ARIMA/SARIMA orders with evidence</a:t>
            </a:r>
            <a:endParaRPr lang="en-US" sz="19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Test forecasts out of sample against naïve baselines</a:t>
            </a:r>
            <a:endParaRPr lang="en-US" sz="1900" dirty="0"/>
          </a:p>
        </p:txBody>
      </p:sp>
      <p:sp>
        <p:nvSpPr>
          <p:cNvPr id="13" name="Number 2"/>
          <p:cNvSpPr/>
          <p:nvPr/>
        </p:nvSpPr>
        <p:spPr>
          <a:xfrm>
            <a:off x="731520" y="10561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10561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Heading 2"/>
          <p:cNvSpPr txBox="1"/>
          <p:nvPr/>
        </p:nvSpPr>
        <p:spPr>
          <a:xfrm>
            <a:off x="1463040" y="1051560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preparation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731520" y="11384280"/>
            <a:ext cx="216484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11494008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2,449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12252960"/>
            <a:ext cx="198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trading days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079242" y="11384280"/>
            <a:ext cx="216484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79242" y="11494008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170682" y="12252960"/>
            <a:ext cx="198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rows removed (no missing / invalid)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26964" y="11384280"/>
            <a:ext cx="216484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26964" y="11494008"/>
            <a:ext cx="21648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+ 4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5518404" y="12252960"/>
            <a:ext cx="198196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original + derived variables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13213080"/>
            <a:ext cx="686028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Source: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Yahoo Finance via yfinance; dated CSV snapshot; 3 rows checked against the web page.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Original: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Date, Open, High, Low, Close, Adj Close, Volume.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Derived: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log return, intraday range, 20-day volatility, relative volume.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Returns have heavy tails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(excess kurtosis 27.4).</a:t>
            </a:r>
            <a:endParaRPr lang="en-US" sz="1900" dirty="0"/>
          </a:p>
        </p:txBody>
      </p:sp>
      <p:pic>
        <p:nvPicPr>
          <p:cNvPr id="26" name="Image 0" descr="Close price with 50/200-day moving averages, and daily volu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956280"/>
            <a:ext cx="6860286" cy="39792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31520" y="19981284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Close price with 50/200-day moving averages, and daily volume</a:t>
            </a:r>
            <a:endParaRPr lang="en-US" sz="1500" dirty="0"/>
          </a:p>
        </p:txBody>
      </p:sp>
      <p:sp>
        <p:nvSpPr>
          <p:cNvPr id="28" name="Number 3"/>
          <p:cNvSpPr/>
          <p:nvPr/>
        </p:nvSpPr>
        <p:spPr>
          <a:xfrm>
            <a:off x="8049006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9006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30" name="Heading 3"/>
          <p:cNvSpPr txBox="1"/>
          <p:nvPr/>
        </p:nvSpPr>
        <p:spPr>
          <a:xfrm>
            <a:off x="8780526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trading days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8049006" y="4663440"/>
            <a:ext cx="686028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Features: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4 derived features, scaled with StandardScaler (Euclidean distance).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K-Means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and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Agglomerative (Ward)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tested for k = 2–10.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Single / complete / average linkage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scored up to 0.87 silhouette only by isolating 1–10 outlier days, so they were rejected.</a:t>
            </a:r>
            <a:endParaRPr lang="en-US" sz="1900" dirty="0"/>
          </a:p>
        </p:txBody>
      </p:sp>
      <p:pic>
        <p:nvPicPr>
          <p:cNvPr id="32" name="Image 1" descr="K-Means: SSE, silhouette and Davies–Bouldin for k = 2–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006" y="7040880"/>
            <a:ext cx="6860286" cy="183087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049006" y="8917474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K-Means: SSE, silhouette and Davies–Bouldin for k = 2–10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8049006" y="9328954"/>
            <a:ext cx="686028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k = 3 chosen: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k ≥ 4 gives clusters under 1% of days; DBI favours 3 over 2; at k = 3 both algorithms separate activity and volatility.</a:t>
            </a:r>
            <a:endParaRPr lang="en-US" sz="1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9006" y="10929154"/>
          <a:ext cx="686028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 = 3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Silhouette ↑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0.257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D2B2E"/>
                          </a:solidFill>
                        </a:rPr>
                        <a:t>0.312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Davies–Bouldin ↓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D2B2E"/>
                          </a:solidFill>
                        </a:rPr>
                        <a:t>1.392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1.481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Stability (ARI, 80% samples)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D2B2E"/>
                          </a:solidFill>
                        </a:rPr>
                        <a:t>0.877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0.476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Smallest cluster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7.1%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11.0%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6" name="Image 2" descr="Close price coloured by cluster (0 calm · 1 busy · 2 high volatility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006" y="13306594"/>
            <a:ext cx="6860286" cy="3979284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049006" y="17331599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Close price coloured by cluster (0 calm · 1 busy · 2 high volatility)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9006" y="17834519"/>
          <a:ext cx="686028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097280"/>
                <a:gridCol w="1234440"/>
                <a:gridCol w="12344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K-Means cluster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20d vol.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Rel. vol.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0 Calm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57%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2.2%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1.8%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−0.40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1 Busy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35%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3.2%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1.8%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+0.35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2 High volatility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7%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6.4%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5.4%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D2B2E"/>
                          </a:solidFill>
                        </a:rPr>
                        <a:t>+0.08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Number 4"/>
          <p:cNvSpPr/>
          <p:nvPr/>
        </p:nvSpPr>
        <p:spPr>
          <a:xfrm>
            <a:off x="15366492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15366492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1" name="Heading 4"/>
          <p:cNvSpPr txBox="1"/>
          <p:nvPr/>
        </p:nvSpPr>
        <p:spPr>
          <a:xfrm>
            <a:off x="16098012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&amp; ARIMA</a:t>
            </a:r>
            <a:endParaRPr lang="en-US" sz="3200" dirty="0"/>
          </a:p>
        </p:txBody>
      </p:sp>
      <p:sp>
        <p:nvSpPr>
          <p:cNvPr id="42" name="Text 35"/>
          <p:cNvSpPr txBox="1"/>
          <p:nvPr/>
        </p:nvSpPr>
        <p:spPr>
          <a:xfrm>
            <a:off x="15366492" y="4663440"/>
            <a:ext cx="686028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Target: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daily Close. Train Jan 2017 – Mar 2026, test Apr – Sep 2026 (126 days).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ADF: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level p = 0.59 (not stationary); 1st difference p &lt; 0.001, so d = 1.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ACF/PACF: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no significant lags 1–27; no spikes at seasonal lags 5–252, so no SARIMA.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AIC grid (p, q ≤ 3):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ARIMA(2,1,2) best AIC; ARIMA(0,1,0) best BIC.</a:t>
            </a:r>
            <a:endParaRPr lang="en-US" sz="1900" dirty="0"/>
          </a:p>
        </p:txBody>
      </p:sp>
      <p:pic>
        <p:nvPicPr>
          <p:cNvPr id="43" name="Image 3" descr="ACF and PACF of the differenced Close (training data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6492" y="7863840"/>
            <a:ext cx="6860286" cy="2076986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15366492" y="9986546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ACF and PACF of the differenced Close (training data)</a:t>
            </a:r>
            <a:endParaRPr lang="en-US" sz="1500" dirty="0"/>
          </a:p>
        </p:txBody>
      </p:sp>
      <p:pic>
        <p:nvPicPr>
          <p:cNvPr id="45" name="Image 4" descr="Test period: multi-step (top) and rolling one-step forecasts (bottom)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6492" y="10489466"/>
            <a:ext cx="6860286" cy="4555303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15366492" y="15090489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Test period: multi-step (top) and rolling one-step forecasts (bottom)</a:t>
            </a:r>
            <a:endParaRPr lang="en-US" sz="15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366492" y="15593409"/>
          <a:ext cx="686028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103120"/>
                <a:gridCol w="19202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Test MAE (USD)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ARIMA(2,1,2)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Naïve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One-step ahead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0.684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D2B2E"/>
                          </a:solidFill>
                        </a:rPr>
                        <a:t>0.679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Six months ahead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D2B2E"/>
                          </a:solidFill>
                        </a:rPr>
                        <a:t>7.13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D2B2E"/>
                          </a:solidFill>
                        </a:rPr>
                        <a:t>7.08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9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Diagnostics panel"/>
          <p:cNvSpPr/>
          <p:nvPr/>
        </p:nvSpPr>
        <p:spPr>
          <a:xfrm>
            <a:off x="15366492" y="17239329"/>
            <a:ext cx="6860286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15640812" y="17422209"/>
            <a:ext cx="631164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diagnostics (training)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autocorrelation left (Ljung–Box p ≥ 0.61)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 normal: heavy tails (kurtosis 26.6)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Variance not constant (H = 2.47, p &lt; 0.01)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95% interval covered every test day only because it is very wide</a:t>
            </a:r>
            <a:endParaRPr lang="en-US" sz="1800" dirty="0"/>
          </a:p>
        </p:txBody>
      </p:sp>
      <p:sp>
        <p:nvSpPr>
          <p:cNvPr id="50" name="Number 5"/>
          <p:cNvSpPr/>
          <p:nvPr/>
        </p:nvSpPr>
        <p:spPr>
          <a:xfrm>
            <a:off x="22683978" y="3886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2268397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52" name="Heading 5"/>
          <p:cNvSpPr txBox="1"/>
          <p:nvPr/>
        </p:nvSpPr>
        <p:spPr>
          <a:xfrm>
            <a:off x="23415498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ARIMA better than naïve?</a:t>
            </a:r>
            <a:endParaRPr lang="en-US" sz="3200" dirty="0"/>
          </a:p>
        </p:txBody>
      </p:sp>
      <p:graphicFrame>
        <p:nvGraphicFramePr>
          <p:cNvPr id="53" name="Robustness chart" descr=""/>
          <p:cNvGraphicFramePr/>
          <p:nvPr/>
        </p:nvGraphicFramePr>
        <p:xfrm>
          <a:off x="22683978" y="4663440"/>
          <a:ext cx="6860286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4" name="Text 43"/>
          <p:cNvSpPr txBox="1"/>
          <p:nvPr/>
        </p:nvSpPr>
        <p:spPr>
          <a:xfrm>
            <a:off x="22683978" y="8961120"/>
            <a:ext cx="6860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ARIMA wins 2 windows, loses 2, by at most 0.005 USD: effectively no better than naïve.</a:t>
            </a:r>
            <a:endParaRPr lang="en-US" sz="1900" dirty="0"/>
          </a:p>
        </p:txBody>
      </p:sp>
      <p:sp>
        <p:nvSpPr>
          <p:cNvPr id="55" name="Number 6"/>
          <p:cNvSpPr/>
          <p:nvPr/>
        </p:nvSpPr>
        <p:spPr>
          <a:xfrm>
            <a:off x="22683978" y="10012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22683978" y="10012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57" name="Heading 6"/>
          <p:cNvSpPr txBox="1"/>
          <p:nvPr/>
        </p:nvSpPr>
        <p:spPr>
          <a:xfrm>
            <a:off x="23415498" y="996696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conclusions</a:t>
            </a:r>
            <a:endParaRPr lang="en-US" sz="3200" dirty="0"/>
          </a:p>
        </p:txBody>
      </p:sp>
      <p:sp>
        <p:nvSpPr>
          <p:cNvPr id="58" name="Text 47"/>
          <p:cNvSpPr txBox="1"/>
          <p:nvPr/>
        </p:nvSpPr>
        <p:spPr>
          <a:xfrm>
            <a:off x="22683978" y="10789920"/>
            <a:ext cx="6860286" cy="667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Three market conditions: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calm (57%), busy high-volume (35%) and high-volatility days (7%). The volatile days cluster in 2018, 2020, 2022 and 2023, although no dates were used.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K-Means preferred: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better DBI, far more stable, easier to explain. Ward has the higher silhouette. Separation is weak overall.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Forecasting: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price behaves like a random walk; ARIMA did not beat "tomorrow = today".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Link: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residuals are heavy-tailed with changing variance, the same volatility regimes the clusters show, so ARIMA intervals are unreliable.</a:t>
            </a:r>
            <a:endParaRPr lang="en-US" sz="19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Limitations: </a:t>
            </a:r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one stock, no external data, k is a judgement, one main split. Not investment advice.</a:t>
            </a:r>
            <a:endParaRPr lang="en-US" sz="1900" dirty="0"/>
          </a:p>
        </p:txBody>
      </p:sp>
      <p:sp>
        <p:nvSpPr>
          <p:cNvPr id="59" name="References"/>
          <p:cNvSpPr txBox="1"/>
          <p:nvPr/>
        </p:nvSpPr>
        <p:spPr>
          <a:xfrm>
            <a:off x="22683978" y="17556480"/>
            <a:ext cx="686028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4E4A"/>
                </a:solidFill>
              </a:rPr>
              <a:t>References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859"/>
                </a:solidFill>
              </a:rPr>
              <a:t>Hyndman, R.J. and Athanasopoulos, G. (2018) Forecasting: principles and practice. 2nd edn. OTexts.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859"/>
                </a:solidFill>
              </a:rPr>
              <a:t>Iqbal, M. (n.d.) Machine Learning for Business lecture slides (Lectures 1, 2, 3, 5, 6). CCT College Dublin.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859"/>
                </a:solidFill>
              </a:rPr>
              <a:t>Pal, A. and Prakash, P.K.S. (2017) Practical Time Series Analysis. Packt.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859"/>
                </a:solidFill>
              </a:rPr>
              <a:t>Pedregosa, F. et al. (2011) 'Scikit-learn', JMLR, 12, pp. 2825–2830.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4A5859"/>
                </a:solidFill>
              </a:rPr>
              <a:t>Yahoo Finance (2026) Carriage Services, Inc. (CSV) historical data. Accessed 21 Oct 2026.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V Poster">
  <a:themeElements>
    <a:clrScheme name="CSV Poster">
      <a:dk1>
        <a:srgbClr val="1D2B2E"/>
      </a:dk1>
      <a:lt1>
        <a:srgbClr val="FFFFFF"/>
      </a:lt1>
      <a:dk2>
        <a:srgbClr val="1F4E4A"/>
      </a:dk2>
      <a:lt2>
        <a:srgbClr val="EAF1EF"/>
      </a:lt2>
      <a:accent1>
        <a:srgbClr val="1F6F68"/>
      </a:accent1>
      <a:accent2>
        <a:srgbClr val="C8553D"/>
      </a:accent2>
      <a:accent3>
        <a:srgbClr val="8AA39B"/>
      </a:accent3>
      <a:accent4>
        <a:srgbClr val="D9A441"/>
      </a:accent4>
      <a:accent5>
        <a:srgbClr val="4A5859"/>
      </a:accent5>
      <a:accent6>
        <a:srgbClr val="B7C9C3"/>
      </a:accent6>
      <a:hlink>
        <a:srgbClr val="1F6F68"/>
      </a:hlink>
      <a:folHlink>
        <a:srgbClr val="4A5859"/>
      </a:folHlink>
    </a:clrScheme>
    <a:fontScheme name="CSV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Conditions and Price Forecasting for Carriage Services (CSV)</dc:title>
  <dc:subject>PptxGenJS Presentation</dc:subject>
  <dc:creator>PptxGenJS</dc:creator>
  <cp:lastModifiedBy>PptxGenJS</cp:lastModifiedBy>
  <cp:revision>1</cp:revision>
  <dcterms:created xsi:type="dcterms:W3CDTF">2026-10-21T00:47:41Z</dcterms:created>
  <dcterms:modified xsi:type="dcterms:W3CDTF">2026-10-21T00:47:41Z</dcterms:modified>
</cp:coreProperties>
</file>